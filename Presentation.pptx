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Bitter" charset="1" panose="02000000000000000000"/>
      <p:regular r:id="rId20"/>
    </p:embeddedFont>
    <p:embeddedFont>
      <p:font typeface="Arimo" charset="1" panose="020B06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889199"/>
            <a:ext cx="16303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Student Performance Prediction Using Machine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5048250"/>
            <a:ext cx="172179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Data Science Internship Capstone Project — Zaara Khan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5916063"/>
            <a:ext cx="16303523" cy="1105500"/>
            <a:chOff x="0" y="0"/>
            <a:chExt cx="21738031" cy="147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7954" cy="1473962"/>
            </a:xfrm>
            <a:custGeom>
              <a:avLst/>
              <a:gdLst/>
              <a:ahLst/>
              <a:cxnLst/>
              <a:rect r="r" b="b" t="t" l="l"/>
              <a:pathLst>
                <a:path h="1473962" w="217379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21681312" y="0"/>
                  </a:lnTo>
                  <a:cubicBezTo>
                    <a:pt x="21712681" y="0"/>
                    <a:pt x="21737954" y="25400"/>
                    <a:pt x="21737954" y="56642"/>
                  </a:cubicBezTo>
                  <a:lnTo>
                    <a:pt x="21737954" y="1417320"/>
                  </a:lnTo>
                  <a:cubicBezTo>
                    <a:pt x="21737954" y="1448689"/>
                    <a:pt x="21712554" y="1473962"/>
                    <a:pt x="21681312" y="1473962"/>
                  </a:cubicBezTo>
                  <a:lnTo>
                    <a:pt x="56642" y="1473962"/>
                  </a:lnTo>
                  <a:cubicBezTo>
                    <a:pt x="25273" y="1473962"/>
                    <a:pt x="0" y="1448562"/>
                    <a:pt x="0" y="1417320"/>
                  </a:cubicBezTo>
                  <a:close/>
                </a:path>
              </a:pathLst>
            </a:custGeom>
            <a:solidFill>
              <a:srgbClr val="2A2C2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5750" y="6317609"/>
            <a:ext cx="354359" cy="283521"/>
            <a:chOff x="0" y="0"/>
            <a:chExt cx="472478" cy="37802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1" r="-8" b="-65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913630" y="6146749"/>
            <a:ext cx="1601301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Aim: Predict mathematics scores from demographic and academic indicators to inform targeted interventions.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041152"/>
            <a:ext cx="65850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213174"/>
            <a:ext cx="5245446" cy="2994574"/>
            <a:chOff x="0" y="0"/>
            <a:chExt cx="6993928" cy="39927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93890" cy="3992753"/>
            </a:xfrm>
            <a:custGeom>
              <a:avLst/>
              <a:gdLst/>
              <a:ahLst/>
              <a:cxnLst/>
              <a:rect r="r" b="b" t="t" l="l"/>
              <a:pathLst>
                <a:path h="3992753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3936111"/>
                  </a:lnTo>
                  <a:cubicBezTo>
                    <a:pt x="6993890" y="3967480"/>
                    <a:pt x="6968490" y="3992753"/>
                    <a:pt x="6937248" y="3992753"/>
                  </a:cubicBezTo>
                  <a:lnTo>
                    <a:pt x="56642" y="3992753"/>
                  </a:lnTo>
                  <a:cubicBezTo>
                    <a:pt x="25273" y="3992753"/>
                    <a:pt x="0" y="3967353"/>
                    <a:pt x="0" y="3936111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75750" y="4468120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Objective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5750" y="5014465"/>
            <a:ext cx="4678413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Predict student mathematics scores using demographic and academic features to enable data-driven support.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21206" y="4213174"/>
            <a:ext cx="5245446" cy="2994574"/>
            <a:chOff x="0" y="0"/>
            <a:chExt cx="6993928" cy="39927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0" cy="3992753"/>
            </a:xfrm>
            <a:custGeom>
              <a:avLst/>
              <a:gdLst/>
              <a:ahLst/>
              <a:cxnLst/>
              <a:rect r="r" b="b" t="t" l="l"/>
              <a:pathLst>
                <a:path h="3992753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3936111"/>
                  </a:lnTo>
                  <a:cubicBezTo>
                    <a:pt x="6993890" y="3967480"/>
                    <a:pt x="6968490" y="3992753"/>
                    <a:pt x="6937248" y="3992753"/>
                  </a:cubicBezTo>
                  <a:lnTo>
                    <a:pt x="56642" y="3992753"/>
                  </a:lnTo>
                  <a:cubicBezTo>
                    <a:pt x="25273" y="3992753"/>
                    <a:pt x="0" y="3967353"/>
                    <a:pt x="0" y="3936111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804717" y="4468120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Why it matters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04717" y="5014465"/>
            <a:ext cx="4678413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Identify performance drivers, inform targeted interventions, and improve academic outcomes across student groups.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50163" y="4213174"/>
            <a:ext cx="5245446" cy="2994574"/>
            <a:chOff x="0" y="0"/>
            <a:chExt cx="6993928" cy="39927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93890" cy="3992753"/>
            </a:xfrm>
            <a:custGeom>
              <a:avLst/>
              <a:gdLst/>
              <a:ahLst/>
              <a:cxnLst/>
              <a:rect r="r" b="b" t="t" l="l"/>
              <a:pathLst>
                <a:path h="3992753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3936111"/>
                  </a:lnTo>
                  <a:cubicBezTo>
                    <a:pt x="6993890" y="3967480"/>
                    <a:pt x="6968490" y="3992753"/>
                    <a:pt x="6937248" y="3992753"/>
                  </a:cubicBezTo>
                  <a:lnTo>
                    <a:pt x="56642" y="3992753"/>
                  </a:lnTo>
                  <a:cubicBezTo>
                    <a:pt x="25273" y="3992753"/>
                    <a:pt x="0" y="3967353"/>
                    <a:pt x="0" y="3936111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333684" y="4468120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Stakeholders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33684" y="5014465"/>
            <a:ext cx="467841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Teachers, school administrators, policymakers, and students/families.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4358726"/>
            <a:ext cx="7071122" cy="1569539"/>
            <a:chOff x="0" y="0"/>
            <a:chExt cx="9428162" cy="2092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428226" cy="2092706"/>
            </a:xfrm>
            <a:custGeom>
              <a:avLst/>
              <a:gdLst/>
              <a:ahLst/>
              <a:cxnLst/>
              <a:rect r="r" b="b" t="t" l="l"/>
              <a:pathLst>
                <a:path h="2092706" w="9428226">
                  <a:moveTo>
                    <a:pt x="0" y="0"/>
                  </a:moveTo>
                  <a:lnTo>
                    <a:pt x="9428226" y="0"/>
                  </a:lnTo>
                  <a:lnTo>
                    <a:pt x="9428226" y="2092706"/>
                  </a:lnTo>
                  <a:lnTo>
                    <a:pt x="0" y="2092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1" r="0" b="-9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819550" y="2673106"/>
            <a:ext cx="65850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Dataset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19550" y="3608194"/>
            <a:ext cx="8485584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Features: Gender; Race/Ethnicity; Parental Education; Lunch Type; Test Preparation Course; Reading Score; Writing Score; Mathematics Score.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19550" y="5243217"/>
            <a:ext cx="8485584" cy="80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Dataset size: 1,000 student records. Balanced mix of demographics and academic indicators suitable for supervised learning.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19550" y="6204937"/>
            <a:ext cx="8485584" cy="155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Tabular educational assessment data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Numeric targets (math score) with numeric predictors (reading/writing) and categorical controls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89012"/>
            <a:ext cx="65850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Data Preprocessing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465784"/>
            <a:ext cx="172179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We prepared the data to ensure model reliability and interpretability.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333598"/>
            <a:ext cx="567033" cy="354359"/>
            <a:chOff x="0" y="0"/>
            <a:chExt cx="756044" cy="4724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2C4B5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2238" y="3777405"/>
            <a:ext cx="8009934" cy="38100"/>
            <a:chOff x="0" y="0"/>
            <a:chExt cx="10679913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238" y="3966715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Load &amp; Inspect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4513059"/>
            <a:ext cx="800993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Read CSV, verify schema, and preview rows.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85684" y="3333598"/>
            <a:ext cx="567033" cy="354359"/>
            <a:chOff x="0" y="0"/>
            <a:chExt cx="756044" cy="4724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2C4B5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85684" y="3777405"/>
            <a:ext cx="8010077" cy="38100"/>
            <a:chOff x="0" y="0"/>
            <a:chExt cx="10680103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285684" y="3966715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Cleaning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5684" y="4513059"/>
            <a:ext cx="8010077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Checked for missing values and duplicates; none significant after validation.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238" y="6011618"/>
            <a:ext cx="567033" cy="354359"/>
            <a:chOff x="0" y="0"/>
            <a:chExt cx="756044" cy="4724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2C4B5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2238" y="6455416"/>
            <a:ext cx="8009934" cy="38100"/>
            <a:chOff x="0" y="0"/>
            <a:chExt cx="10679913" cy="50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92238" y="6644726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Encoding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238" y="7191080"/>
            <a:ext cx="8009934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Label encoding for categorical features (e.g., gender, lunch, test preparation).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85684" y="6011618"/>
            <a:ext cx="567033" cy="354359"/>
            <a:chOff x="0" y="0"/>
            <a:chExt cx="756044" cy="4724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2C4B5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85684" y="6455416"/>
            <a:ext cx="8010077" cy="38100"/>
            <a:chOff x="0" y="0"/>
            <a:chExt cx="10680103" cy="50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285684" y="6644726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Feature Selection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85684" y="7191080"/>
            <a:ext cx="8010077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Selected predictors with high explanatory potential: reading_score, writing_score, parental education, test prep, lunch.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0326" y="736997"/>
            <a:ext cx="8863012" cy="70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Exploratory Data Analysis (EDA)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26" y="1871215"/>
            <a:ext cx="17341748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Two visuals highlight the most important patterns in the data.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0326" y="2910335"/>
            <a:ext cx="5232797" cy="3970582"/>
            <a:chOff x="0" y="0"/>
            <a:chExt cx="6977062" cy="529410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6976999" cy="5294122"/>
            </a:xfrm>
            <a:custGeom>
              <a:avLst/>
              <a:gdLst/>
              <a:ahLst/>
              <a:cxnLst/>
              <a:rect r="r" b="b" t="t" l="l"/>
              <a:pathLst>
                <a:path h="5294122" w="6976999">
                  <a:moveTo>
                    <a:pt x="0" y="0"/>
                  </a:moveTo>
                  <a:lnTo>
                    <a:pt x="6976999" y="0"/>
                  </a:lnTo>
                  <a:lnTo>
                    <a:pt x="6976999" y="5294122"/>
                  </a:lnTo>
                  <a:lnTo>
                    <a:pt x="0" y="5294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1" r="0" b="-5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30326" y="7132587"/>
            <a:ext cx="42369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Distribution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0326" y="7759008"/>
            <a:ext cx="9145343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Math scores show a central spread with a few outliers.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19084" y="2910335"/>
            <a:ext cx="5457530" cy="3999014"/>
            <a:chOff x="0" y="0"/>
            <a:chExt cx="7276706" cy="533201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276719" cy="5331968"/>
            </a:xfrm>
            <a:custGeom>
              <a:avLst/>
              <a:gdLst/>
              <a:ahLst/>
              <a:cxnLst/>
              <a:rect r="r" b="b" t="t" l="l"/>
              <a:pathLst>
                <a:path h="5331968" w="7276719">
                  <a:moveTo>
                    <a:pt x="0" y="0"/>
                  </a:moveTo>
                  <a:lnTo>
                    <a:pt x="7276719" y="0"/>
                  </a:lnTo>
                  <a:lnTo>
                    <a:pt x="7276719" y="5331968"/>
                  </a:lnTo>
                  <a:lnTo>
                    <a:pt x="0" y="5331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" r="0" b="-1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819084" y="7161019"/>
            <a:ext cx="42369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Correlations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19084" y="7787430"/>
            <a:ext cx="7547972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Reading and writing are strongly linked to math performance.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0326" y="9125245"/>
            <a:ext cx="17341748" cy="38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Reading and writing scores show the strongest association with mathematics, making them key predictors.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653608"/>
            <a:ext cx="65850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Model Building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3967458"/>
            <a:ext cx="8009934" cy="3627682"/>
          </a:xfrm>
          <a:custGeom>
            <a:avLst/>
            <a:gdLst/>
            <a:ahLst/>
            <a:cxnLst/>
            <a:rect r="r" b="b" t="t" l="l"/>
            <a:pathLst>
              <a:path h="3627682" w="8009934">
                <a:moveTo>
                  <a:pt x="0" y="0"/>
                </a:moveTo>
                <a:lnTo>
                  <a:pt x="8009935" y="0"/>
                </a:lnTo>
                <a:lnTo>
                  <a:pt x="8009935" y="3627682"/>
                </a:lnTo>
                <a:lnTo>
                  <a:pt x="0" y="362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45" r="0" b="-146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827013" y="4180132"/>
            <a:ext cx="340223" cy="425206"/>
            <a:chOff x="0" y="0"/>
            <a:chExt cx="453631" cy="5669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3629" cy="566936"/>
            </a:xfrm>
            <a:custGeom>
              <a:avLst/>
              <a:gdLst/>
              <a:ahLst/>
              <a:cxnLst/>
              <a:rect r="r" b="b" t="t" l="l"/>
              <a:pathLst>
                <a:path h="566936" w="453629">
                  <a:moveTo>
                    <a:pt x="0" y="0"/>
                  </a:moveTo>
                  <a:lnTo>
                    <a:pt x="453629" y="0"/>
                  </a:lnTo>
                  <a:lnTo>
                    <a:pt x="453629" y="566936"/>
                  </a:lnTo>
                  <a:lnTo>
                    <a:pt x="0" y="5669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52" t="0" r="-11035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53631" cy="585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13850" y="5072805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Algorithm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3850" y="5619150"/>
            <a:ext cx="7366692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Linear Regression — chosen for interpretability and baseline benchmarking.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285684" y="3967458"/>
            <a:ext cx="8010077" cy="3627682"/>
          </a:xfrm>
          <a:custGeom>
            <a:avLst/>
            <a:gdLst/>
            <a:ahLst/>
            <a:cxnLst/>
            <a:rect r="r" b="b" t="t" l="l"/>
            <a:pathLst>
              <a:path h="3627682" w="8010077">
                <a:moveTo>
                  <a:pt x="0" y="0"/>
                </a:moveTo>
                <a:lnTo>
                  <a:pt x="8010078" y="0"/>
                </a:lnTo>
                <a:lnTo>
                  <a:pt x="8010078" y="3627682"/>
                </a:lnTo>
                <a:lnTo>
                  <a:pt x="0" y="362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47" r="0" b="-147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120468" y="4180132"/>
            <a:ext cx="340223" cy="425206"/>
            <a:chOff x="0" y="0"/>
            <a:chExt cx="453631" cy="566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3629" cy="566936"/>
            </a:xfrm>
            <a:custGeom>
              <a:avLst/>
              <a:gdLst/>
              <a:ahLst/>
              <a:cxnLst/>
              <a:rect r="r" b="b" t="t" l="l"/>
              <a:pathLst>
                <a:path h="566936" w="453629">
                  <a:moveTo>
                    <a:pt x="0" y="0"/>
                  </a:moveTo>
                  <a:lnTo>
                    <a:pt x="453629" y="0"/>
                  </a:lnTo>
                  <a:lnTo>
                    <a:pt x="453629" y="566936"/>
                  </a:lnTo>
                  <a:lnTo>
                    <a:pt x="0" y="5669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52" t="0" r="-11035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53631" cy="585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607306" y="5072805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Procedure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07306" y="5619150"/>
            <a:ext cx="7366845" cy="165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Train-test split: 80:20</a:t>
            </a:r>
          </a:p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Fit linear model on training set</a:t>
            </a:r>
          </a:p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Generate predictions on test set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153841"/>
            <a:ext cx="65850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Model Evaluation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230613"/>
            <a:ext cx="172179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Performance metrics computed on the held-out test set: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354411"/>
            <a:ext cx="7974511" cy="82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28.28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07391" y="5501430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MSE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047784"/>
            <a:ext cx="797451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Mean Squared Error: 28.28 (lower is better)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21108" y="4354411"/>
            <a:ext cx="7974654" cy="82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88.4%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36413" y="5501430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R² Score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21108" y="6047784"/>
            <a:ext cx="7974654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Explained variance: 88.4% — model captures most variability in math scores.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7293026"/>
            <a:ext cx="16303523" cy="80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Interpretation: The linear model is a strong baseline. Residual analysis indicates minor non-linear patterns for a small subset of students, suggesting room for non-linear models.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6760" y="763343"/>
            <a:ext cx="6496345" cy="73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Key Insights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76760" y="2048618"/>
            <a:ext cx="5261667" cy="4242044"/>
          </a:xfrm>
          <a:custGeom>
            <a:avLst/>
            <a:gdLst/>
            <a:ahLst/>
            <a:cxnLst/>
            <a:rect r="r" b="b" t="t" l="l"/>
            <a:pathLst>
              <a:path h="4242044" w="5261667">
                <a:moveTo>
                  <a:pt x="0" y="0"/>
                </a:moveTo>
                <a:lnTo>
                  <a:pt x="5261667" y="0"/>
                </a:lnTo>
                <a:lnTo>
                  <a:pt x="5261667" y="4242044"/>
                </a:lnTo>
                <a:lnTo>
                  <a:pt x="0" y="4242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8" r="0" b="-1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93914" y="3136402"/>
            <a:ext cx="4627359" cy="90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Reading as Primary Predictor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3914" y="4116143"/>
            <a:ext cx="4627359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Reading score shows the strongest weight in the regression — improving reading is likely to raise math performance.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13166" y="2048618"/>
            <a:ext cx="5261667" cy="4242044"/>
          </a:xfrm>
          <a:custGeom>
            <a:avLst/>
            <a:gdLst/>
            <a:ahLst/>
            <a:cxnLst/>
            <a:rect r="r" b="b" t="t" l="l"/>
            <a:pathLst>
              <a:path h="4242044" w="5261667">
                <a:moveTo>
                  <a:pt x="0" y="0"/>
                </a:moveTo>
                <a:lnTo>
                  <a:pt x="5261668" y="0"/>
                </a:lnTo>
                <a:lnTo>
                  <a:pt x="5261668" y="4242044"/>
                </a:lnTo>
                <a:lnTo>
                  <a:pt x="0" y="4242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8" r="0" b="-1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830320" y="3136402"/>
            <a:ext cx="3488684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Writing Correlation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30320" y="3680069"/>
            <a:ext cx="4627359" cy="141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Writing score also correlates highly with math, reinforcing literacy’s role in quantitative success.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49573" y="2048618"/>
            <a:ext cx="5261667" cy="4242044"/>
          </a:xfrm>
          <a:custGeom>
            <a:avLst/>
            <a:gdLst/>
            <a:ahLst/>
            <a:cxnLst/>
            <a:rect r="r" b="b" t="t" l="l"/>
            <a:pathLst>
              <a:path h="4242044" w="5261667">
                <a:moveTo>
                  <a:pt x="0" y="0"/>
                </a:moveTo>
                <a:lnTo>
                  <a:pt x="5261667" y="0"/>
                </a:lnTo>
                <a:lnTo>
                  <a:pt x="5261667" y="4242044"/>
                </a:lnTo>
                <a:lnTo>
                  <a:pt x="0" y="4242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8" r="0" b="-1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366727" y="3136402"/>
            <a:ext cx="3757765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Test Preparation Effect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66727" y="3680069"/>
            <a:ext cx="4627359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Students who completed test preparation performed measurably better, consistent across demographics.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76760" y="6565402"/>
            <a:ext cx="16334480" cy="2920155"/>
          </a:xfrm>
          <a:custGeom>
            <a:avLst/>
            <a:gdLst/>
            <a:ahLst/>
            <a:cxnLst/>
            <a:rect r="r" b="b" t="t" l="l"/>
            <a:pathLst>
              <a:path h="2920155" w="16334480">
                <a:moveTo>
                  <a:pt x="0" y="0"/>
                </a:moveTo>
                <a:lnTo>
                  <a:pt x="16334480" y="0"/>
                </a:lnTo>
                <a:lnTo>
                  <a:pt x="16334480" y="2920155"/>
                </a:lnTo>
                <a:lnTo>
                  <a:pt x="0" y="29201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6" r="0" b="-6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93914" y="7653185"/>
            <a:ext cx="4383291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Parental Education &amp; Lunch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3914" y="8196853"/>
            <a:ext cx="1570017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Higher parental education associates with better scores; standard lunch students showed slightly higher averages than free/reduced lunch peers.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36712"/>
            <a:ext cx="65850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255321"/>
            <a:ext cx="16303523" cy="275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Scale test preparation programs targeted at lower-performing cohorts.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Integrate literacy interventions (reading &amp; writing) into math curricula.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Provide focused support (tutoring, mentoring) for students from disadvantaged lunch categories.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Engage parents through workshops and progress reports to boost at-home support.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Monitor outcomes and retrain models with new data periodically.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6334125"/>
            <a:ext cx="16303523" cy="1559128"/>
            <a:chOff x="0" y="0"/>
            <a:chExt cx="21738031" cy="20788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8081" cy="2078863"/>
            </a:xfrm>
            <a:custGeom>
              <a:avLst/>
              <a:gdLst/>
              <a:ahLst/>
              <a:cxnLst/>
              <a:rect r="r" b="b" t="t" l="l"/>
              <a:pathLst>
                <a:path h="2078863" w="21738081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81312" y="0"/>
                  </a:lnTo>
                  <a:cubicBezTo>
                    <a:pt x="21712681" y="0"/>
                    <a:pt x="21738081" y="25400"/>
                    <a:pt x="21738081" y="56769"/>
                  </a:cubicBezTo>
                  <a:lnTo>
                    <a:pt x="21738081" y="2022094"/>
                  </a:lnTo>
                  <a:cubicBezTo>
                    <a:pt x="21738081" y="2053463"/>
                    <a:pt x="21712681" y="2078863"/>
                    <a:pt x="21681312" y="2078863"/>
                  </a:cubicBezTo>
                  <a:lnTo>
                    <a:pt x="56769" y="2078863"/>
                  </a:lnTo>
                  <a:cubicBezTo>
                    <a:pt x="25400" y="2078863"/>
                    <a:pt x="0" y="2053463"/>
                    <a:pt x="0" y="2022094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5750" y="6735661"/>
            <a:ext cx="354359" cy="283521"/>
            <a:chOff x="0" y="0"/>
            <a:chExt cx="472478" cy="37802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1" r="-8" b="-65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913630" y="6564811"/>
            <a:ext cx="150986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Short-term: pilot expanded test prep and reading workshops. Long-term: collect larger, longitudinal datasets to evaluate impact.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61282" y="964854"/>
            <a:ext cx="7517159" cy="72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Conclusion &amp;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1282" y="2002784"/>
            <a:ext cx="16365436" cy="9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Conclusion: The linear regression baseline achieved strong predictive performance (R² = 88.4%), indicating reading and writing scores are powerful predictors of mathematics achievement.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1282" y="3253083"/>
            <a:ext cx="1373238" cy="1647977"/>
            <a:chOff x="0" y="0"/>
            <a:chExt cx="1830984" cy="219730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830959" cy="2197354"/>
            </a:xfrm>
            <a:custGeom>
              <a:avLst/>
              <a:gdLst/>
              <a:ahLst/>
              <a:cxnLst/>
              <a:rect r="r" b="b" t="t" l="l"/>
              <a:pathLst>
                <a:path h="2197354" w="1830959">
                  <a:moveTo>
                    <a:pt x="0" y="0"/>
                  </a:moveTo>
                  <a:lnTo>
                    <a:pt x="1830959" y="0"/>
                  </a:lnTo>
                  <a:lnTo>
                    <a:pt x="1830959" y="2197354"/>
                  </a:lnTo>
                  <a:lnTo>
                    <a:pt x="0" y="2197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4" r="-1" b="-5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600477" y="3499094"/>
            <a:ext cx="3433315" cy="45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Next Models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00477" y="4030561"/>
            <a:ext cx="14726250" cy="51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Evaluate Random Forest and XGBoost to capture non-linear relationships and reduce residual error.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1282" y="4901060"/>
            <a:ext cx="1373238" cy="2003079"/>
            <a:chOff x="0" y="0"/>
            <a:chExt cx="1830984" cy="267077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830959" cy="2670810"/>
            </a:xfrm>
            <a:custGeom>
              <a:avLst/>
              <a:gdLst/>
              <a:ahLst/>
              <a:cxnLst/>
              <a:rect r="r" b="b" t="t" l="l"/>
              <a:pathLst>
                <a:path h="2670810" w="1830959">
                  <a:moveTo>
                    <a:pt x="0" y="0"/>
                  </a:moveTo>
                  <a:lnTo>
                    <a:pt x="1830959" y="0"/>
                  </a:lnTo>
                  <a:lnTo>
                    <a:pt x="1830959" y="2670810"/>
                  </a:lnTo>
                  <a:lnTo>
                    <a:pt x="0" y="267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2" b="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600477" y="5147072"/>
            <a:ext cx="3433315" cy="45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Deployment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00477" y="5678538"/>
            <a:ext cx="14726250" cy="9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Develop a lightweight web app for teachers to input student features and receive predicted math scores and suggested interventions.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1282" y="6904139"/>
            <a:ext cx="1373238" cy="1647977"/>
            <a:chOff x="0" y="0"/>
            <a:chExt cx="1830984" cy="2197303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830959" cy="2197354"/>
            </a:xfrm>
            <a:custGeom>
              <a:avLst/>
              <a:gdLst/>
              <a:ahLst/>
              <a:cxnLst/>
              <a:rect r="r" b="b" t="t" l="l"/>
              <a:pathLst>
                <a:path h="2197354" w="1830959">
                  <a:moveTo>
                    <a:pt x="0" y="0"/>
                  </a:moveTo>
                  <a:lnTo>
                    <a:pt x="1830959" y="0"/>
                  </a:lnTo>
                  <a:lnTo>
                    <a:pt x="1830959" y="2197354"/>
                  </a:lnTo>
                  <a:lnTo>
                    <a:pt x="0" y="2197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4" r="-1" b="-53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600477" y="7150151"/>
            <a:ext cx="3433315" cy="45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Data Expansion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00477" y="7681617"/>
            <a:ext cx="14726250" cy="51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Collect larger and longitudinal educational datasets to validate model generalization and fairness across subgroups.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4082" y="8765677"/>
            <a:ext cx="17279836" cy="51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1"/>
              </a:lnSpc>
            </a:pPr>
            <a:r>
              <a:rPr lang="en-US" sz="21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DAHMRfwQEHY</dc:identifier>
  <dcterms:modified xsi:type="dcterms:W3CDTF">2011-08-01T06:04:30Z</dcterms:modified>
  <cp:revision>1</cp:revision>
  <dc:title>Presentation.pptx</dc:title>
</cp:coreProperties>
</file>